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09803" y="2641876"/>
            <a:ext cx="4644750" cy="429336"/>
          </a:xfrm>
        </p:spPr>
        <p:txBody>
          <a:bodyPr wrap="square" lIns="45720" tIns="27432" rIns="45720" bIns="27432">
            <a:noAutofit/>
          </a:bodyPr>
          <a:lstStyle/>
          <a:p>
            <a:r>
              <a:rPr lang="en-GB" sz="3200" b="1" u="sng" dirty="0"/>
              <a:t>Project Title - </a:t>
            </a:r>
            <a:br>
              <a:rPr lang="en-GB" sz="3200" b="1" u="sng" dirty="0"/>
            </a:br>
            <a:endParaRPr lang="en-IN" sz="3200" b="1" u="sng"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09803" y="4568240"/>
            <a:ext cx="4418557" cy="670953"/>
          </a:xfrm>
          <a:prstGeom prst="rect">
            <a:avLst/>
          </a:prstGeom>
          <a:noFill/>
        </p:spPr>
        <p:txBody>
          <a:bodyPr wrap="square" lIns="45720" tIns="27432" rIns="45720" bIns="27432" rtlCol="0">
            <a:spAutoFit/>
          </a:bodyPr>
          <a:lstStyle/>
          <a:p>
            <a:r>
              <a:rPr sz="2000" b="1" u="sng" dirty="0"/>
              <a:t>AICTE STU ID : </a:t>
            </a:r>
            <a:r>
              <a:rPr sz="2000" b="1" dirty="0"/>
              <a:t>STU689cad2edb2a61755098414</a:t>
            </a:r>
          </a:p>
        </p:txBody>
      </p:sp>
      <p:sp>
        <p:nvSpPr>
          <p:cNvPr id="5" name="TextBox 4">
            <a:extLst>
              <a:ext uri="{FF2B5EF4-FFF2-40B4-BE49-F238E27FC236}">
                <a16:creationId xmlns:a16="http://schemas.microsoft.com/office/drawing/2014/main" id="{3D4D1760-1ABD-D3A1-493D-26A9AD3CD686}"/>
              </a:ext>
            </a:extLst>
          </p:cNvPr>
          <p:cNvSpPr txBox="1"/>
          <p:nvPr/>
        </p:nvSpPr>
        <p:spPr>
          <a:xfrm>
            <a:off x="521195" y="3220185"/>
            <a:ext cx="6952160" cy="523220"/>
          </a:xfrm>
          <a:prstGeom prst="rect">
            <a:avLst/>
          </a:prstGeom>
          <a:noFill/>
        </p:spPr>
        <p:txBody>
          <a:bodyPr wrap="none" rtlCol="0">
            <a:spAutoFit/>
          </a:bodyPr>
          <a:lstStyle/>
          <a:p>
            <a:r>
              <a:rPr lang="en-GB" sz="2800" dirty="0"/>
              <a:t>Seasonal Agriculture Performance Analysis</a:t>
            </a:r>
            <a:endParaRPr lang="en-IN" sz="2800" dirty="0"/>
          </a:p>
        </p:txBody>
      </p:sp>
      <p:sp>
        <p:nvSpPr>
          <p:cNvPr id="9" name="TextBox 8">
            <a:extLst>
              <a:ext uri="{FF2B5EF4-FFF2-40B4-BE49-F238E27FC236}">
                <a16:creationId xmlns:a16="http://schemas.microsoft.com/office/drawing/2014/main" id="{47875F12-B9FF-C9B3-EEE2-DE99CE7F5261}"/>
              </a:ext>
            </a:extLst>
          </p:cNvPr>
          <p:cNvSpPr txBox="1"/>
          <p:nvPr/>
        </p:nvSpPr>
        <p:spPr>
          <a:xfrm>
            <a:off x="521195" y="3851937"/>
            <a:ext cx="5695021" cy="1015663"/>
          </a:xfrm>
          <a:prstGeom prst="rect">
            <a:avLst/>
          </a:prstGeom>
          <a:noFill/>
        </p:spPr>
        <p:txBody>
          <a:bodyPr wrap="none" rtlCol="0">
            <a:spAutoFit/>
          </a:bodyPr>
          <a:lstStyle/>
          <a:p>
            <a:r>
              <a:rPr lang="en-US" sz="2000" dirty="0"/>
              <a:t>FAMEED SHAIK</a:t>
            </a:r>
          </a:p>
          <a:p>
            <a:r>
              <a:rPr lang="en-US" sz="2000" dirty="0"/>
              <a:t>SREE VENKATESWARA COLLEGE OF ENGINEERING</a:t>
            </a:r>
            <a:endParaRPr lang="en-IN" sz="2000" dirty="0"/>
          </a:p>
          <a:p>
            <a:endParaRPr lang="en-IN" sz="2000"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11702" y="1503657"/>
            <a:ext cx="6723158" cy="3850686"/>
          </a:xfrm>
        </p:spPr>
        <p:txBody>
          <a:bodyPr vert="horz" wrap="square" lIns="45720" tIns="27432" rIns="45720" bIns="27432" rtlCol="0" anchor="t">
            <a:noAutofit/>
          </a:bodyPr>
          <a:lstStyle/>
          <a:p>
            <a:r>
              <a:rPr lang="en-US" dirty="0"/>
              <a:t>Agricultural activities are influenced by seasonal variations in in environmental conditions, farming practices, resource availability and market conditions. As a result, agricultural may differ from one season to another. However, result, agricultural performance perf raw agricultural data does not clearly explain how agricultural performance changes across seasons or what patterns can be observed in different seasonal conditions. The problem is to analyze the given agricultural </a:t>
            </a:r>
            <a:r>
              <a:rPr lang="en-US" dirty="0" err="1"/>
              <a:t>datase</a:t>
            </a:r>
            <a:r>
              <a:rPr lang="en-US" dirty="0"/>
              <a: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u="sng" dirty="0"/>
              <a:t>PROBLEM  STATEMENT</a:t>
            </a:r>
            <a:endParaRPr lang="en-IN" u="sng"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849840" y="2203964"/>
            <a:ext cx="7438572" cy="3926643"/>
          </a:xfrm>
        </p:spPr>
        <p:txBody>
          <a:bodyPr>
            <a:noAutofit/>
          </a:bodyPr>
          <a:lstStyle/>
          <a:p>
            <a:r>
              <a:rPr lang="en-IN" sz="1800" dirty="0"/>
              <a:t>The Seasonal Agriculture Performance Analysis project focuses on </a:t>
            </a:r>
            <a:r>
              <a:rPr lang="en-IN" sz="1800" dirty="0" err="1"/>
              <a:t>analyzing</a:t>
            </a:r>
            <a:r>
              <a:rPr lang="en-IN" sz="1800" dirty="0"/>
              <a:t> agricultural data collected across different seasons, crops, geographical areas, farming practices, environmental conditions, resource usage, and economic outcomes.</a:t>
            </a:r>
            <a:br>
              <a:rPr lang="en-IN" sz="1800" dirty="0"/>
            </a:br>
            <a:r>
              <a:rPr lang="en-IN" sz="1800" dirty="0"/>
              <a:t>The project uses Python, Pandas, NumPy, Matplotlib, Seaborn, and Jupyter Notebook to explore and prepare the dataset, handle missing values, identify patterns, compare seasonal performance, and visualize important relationships.</a:t>
            </a:r>
            <a:br>
              <a:rPr lang="en-IN" sz="1800" dirty="0"/>
            </a:br>
            <a:r>
              <a:rPr lang="en-IN" sz="1800" dirty="0"/>
              <a:t>The analysis investigates how agricultural performance varies across Kharif, Rabi, and Zaid seasons, with particular focus on yield, production, rainfall, temperature, soil conditions, irrigation, resource usage, revenue, cost, and profit.</a:t>
            </a:r>
            <a:br>
              <a:rPr lang="en-IN" sz="1800" dirty="0"/>
            </a:br>
            <a:r>
              <a:rPr lang="en-IN" sz="1800" dirty="0"/>
              <a:t>The objective is to transform raw agricultural data into meaningful, evidence-based insights that can help understand seasonal variations and support better agricultural planning and decision-making.</a:t>
            </a:r>
            <a:br>
              <a:rPr lang="en-IN" sz="1800" dirty="0"/>
            </a:br>
            <a:br>
              <a:rPr lang="en-IN" sz="1800" dirty="0"/>
            </a:br>
            <a:endParaRPr sz="1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52E2B697-1B93-7513-C5AE-C1DEC66F6DBE}"/>
              </a:ext>
            </a:extLst>
          </p:cNvPr>
          <p:cNvSpPr txBox="1"/>
          <p:nvPr/>
        </p:nvSpPr>
        <p:spPr>
          <a:xfrm>
            <a:off x="849840" y="1165218"/>
            <a:ext cx="5567681" cy="2077492"/>
          </a:xfrm>
          <a:prstGeom prst="rect">
            <a:avLst/>
          </a:prstGeom>
          <a:noFill/>
        </p:spPr>
        <p:txBody>
          <a:bodyPr wrap="square" rtlCol="0">
            <a:spAutoFit/>
          </a:bodyPr>
          <a:lstStyle/>
          <a:p>
            <a:r>
              <a:rPr lang="en-GB" sz="4300" b="1" u="sng" dirty="0"/>
              <a:t>Project Description</a:t>
            </a:r>
            <a:br>
              <a:rPr lang="en-GB" sz="4300" b="1" u="sng" dirty="0"/>
            </a:br>
            <a:r>
              <a:rPr lang="en-GB" sz="4300" b="1" u="sng" dirty="0"/>
              <a:t> </a:t>
            </a:r>
            <a:br>
              <a:rPr lang="en-GB" sz="4300" b="1" u="sng" dirty="0"/>
            </a:br>
            <a:endParaRPr lang="en-IN" sz="4300" b="1"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1388030"/>
            <a:ext cx="10046070" cy="802641"/>
          </a:xfrm>
        </p:spPr>
        <p:txBody>
          <a:bodyPr>
            <a:normAutofit/>
          </a:bodyPr>
          <a:lstStyle/>
          <a:p>
            <a:r>
              <a:rPr lang="en-US" sz="3200" u="sng" dirty="0"/>
              <a:t>WHO ARE THE END USERS?</a:t>
            </a:r>
            <a:endParaRPr lang="en-IN" sz="2000" u="sng"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721359" y="2190671"/>
            <a:ext cx="7315200" cy="3474720"/>
          </a:xfrm>
          <a:prstGeom prst="rect">
            <a:avLst/>
          </a:prstGeom>
          <a:noFill/>
        </p:spPr>
        <p:txBody>
          <a:bodyPr wrap="square" lIns="73152" rIns="73152">
            <a:spAutoFit/>
          </a:bodyPr>
          <a:lstStyle/>
          <a:p>
            <a:pPr algn="l"/>
            <a:r>
              <a:rPr sz="1800" b="0" dirty="0"/>
              <a:t>• Farmers and farm managers – compare seasonal performance and resource use.
• Agricultural planners – understand seasonal and crop-level patterns.
• Agronomists and field advisors – examine yield, irrigation and environmental relationships.
• Agricultural analysts and researchers – use farm-level evidence for further study.
• Students and data analysts – practice real-world agricultural data analysis.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16559" y="6438277"/>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0" y="3847976"/>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050471" y="761823"/>
            <a:ext cx="5306291" cy="847817"/>
          </a:xfrm>
        </p:spPr>
        <p:txBody>
          <a:bodyPr>
            <a:normAutofit/>
          </a:bodyPr>
          <a:lstStyle/>
          <a:p>
            <a:r>
              <a:rPr lang="en-US" u="sng" dirty="0"/>
              <a:t>Technology Used</a:t>
            </a:r>
          </a:p>
        </p:txBody>
      </p:sp>
      <p:sp>
        <p:nvSpPr>
          <p:cNvPr id="17" name="TextBox 16"/>
          <p:cNvSpPr txBox="1"/>
          <p:nvPr/>
        </p:nvSpPr>
        <p:spPr>
          <a:xfrm>
            <a:off x="1424578" y="1609640"/>
            <a:ext cx="7498079" cy="2800767"/>
          </a:xfrm>
          <a:prstGeom prst="rect">
            <a:avLst/>
          </a:prstGeom>
          <a:noFill/>
        </p:spPr>
        <p:txBody>
          <a:bodyPr wrap="square" lIns="73152" rIns="73152">
            <a:spAutoFit/>
          </a:bodyPr>
          <a:lstStyle/>
          <a:p>
            <a:pPr algn="l"/>
            <a:r>
              <a:rPr sz="2200" b="0" dirty="0"/>
              <a:t>Python
Pandas – data loading, cleaning, grouping and aggregation
NumPy – numerical operations
Matplotlib – analytical visualizations
Seaborn – univariate, bivariate and multivariate plots
Jupyter / Google </a:t>
            </a:r>
            <a:r>
              <a:rPr sz="2200" b="0" dirty="0" err="1"/>
              <a:t>Colab</a:t>
            </a:r>
            <a:r>
              <a:rPr sz="2200" b="0" dirty="0"/>
              <a:t> – notebook-based analysis
Dataset: 4,000 records × 28 variables</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904557" y="366162"/>
            <a:ext cx="2981643" cy="830997"/>
          </a:xfrm>
        </p:spPr>
        <p:txBody>
          <a:bodyPr>
            <a:normAutofit/>
          </a:bodyPr>
          <a:lstStyle/>
          <a:p>
            <a:r>
              <a:rPr lang="en-GB" u="sng" dirty="0"/>
              <a:t>RESULTS </a:t>
            </a:r>
            <a:endParaRPr lang="en-IN" u="sng"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result_01.png"/>
          <p:cNvPicPr>
            <a:picLocks noChangeAspect="1"/>
          </p:cNvPicPr>
          <p:nvPr/>
        </p:nvPicPr>
        <p:blipFill>
          <a:blip r:embed="rId3"/>
          <a:stretch>
            <a:fillRect/>
          </a:stretch>
        </p:blipFill>
        <p:spPr>
          <a:xfrm>
            <a:off x="1056472" y="1325880"/>
            <a:ext cx="3250011" cy="2299716"/>
          </a:xfrm>
          <a:prstGeom prst="rect">
            <a:avLst/>
          </a:prstGeom>
        </p:spPr>
      </p:pic>
      <p:pic>
        <p:nvPicPr>
          <p:cNvPr id="32" name="Picture 31" descr="result_02.png"/>
          <p:cNvPicPr>
            <a:picLocks noChangeAspect="1"/>
          </p:cNvPicPr>
          <p:nvPr/>
        </p:nvPicPr>
        <p:blipFill>
          <a:blip r:embed="rId4"/>
          <a:stretch>
            <a:fillRect/>
          </a:stretch>
        </p:blipFill>
        <p:spPr>
          <a:xfrm>
            <a:off x="4786884" y="1494124"/>
            <a:ext cx="3991356" cy="1963227"/>
          </a:xfrm>
          <a:prstGeom prst="rect">
            <a:avLst/>
          </a:prstGeom>
        </p:spPr>
      </p:pic>
      <p:pic>
        <p:nvPicPr>
          <p:cNvPr id="33" name="Picture 32" descr="result_03.png"/>
          <p:cNvPicPr>
            <a:picLocks noChangeAspect="1"/>
          </p:cNvPicPr>
          <p:nvPr/>
        </p:nvPicPr>
        <p:blipFill>
          <a:blip r:embed="rId5"/>
          <a:stretch>
            <a:fillRect/>
          </a:stretch>
        </p:blipFill>
        <p:spPr>
          <a:xfrm>
            <a:off x="685800" y="4075121"/>
            <a:ext cx="2624327" cy="1620120"/>
          </a:xfrm>
          <a:prstGeom prst="rect">
            <a:avLst/>
          </a:prstGeom>
        </p:spPr>
      </p:pic>
      <p:pic>
        <p:nvPicPr>
          <p:cNvPr id="34" name="Picture 33" descr="result_04.png"/>
          <p:cNvPicPr>
            <a:picLocks noChangeAspect="1"/>
          </p:cNvPicPr>
          <p:nvPr/>
        </p:nvPicPr>
        <p:blipFill>
          <a:blip r:embed="rId6"/>
          <a:stretch>
            <a:fillRect/>
          </a:stretch>
        </p:blipFill>
        <p:spPr>
          <a:xfrm>
            <a:off x="3419856" y="4075121"/>
            <a:ext cx="2624327" cy="1620120"/>
          </a:xfrm>
          <a:prstGeom prst="rect">
            <a:avLst/>
          </a:prstGeom>
        </p:spPr>
      </p:pic>
      <p:pic>
        <p:nvPicPr>
          <p:cNvPr id="35" name="Picture 34" descr="result_05.png"/>
          <p:cNvPicPr>
            <a:picLocks noChangeAspect="1"/>
          </p:cNvPicPr>
          <p:nvPr/>
        </p:nvPicPr>
        <p:blipFill>
          <a:blip r:embed="rId7"/>
          <a:stretch>
            <a:fillRect/>
          </a:stretch>
        </p:blipFill>
        <p:spPr>
          <a:xfrm>
            <a:off x="6153912" y="4075121"/>
            <a:ext cx="2624327" cy="162012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1051514" y="366162"/>
            <a:ext cx="2981643" cy="830997"/>
          </a:xfrm>
        </p:spPr>
        <p:txBody>
          <a:bodyPr>
            <a:normAutofit/>
          </a:bodyPr>
          <a:lstStyle/>
          <a:p>
            <a:r>
              <a:rPr lang="en-GB" u="sng" dirty="0"/>
              <a:t>RESULTS </a:t>
            </a:r>
            <a:endParaRPr lang="en-IN" u="sng"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result_06.png"/>
          <p:cNvPicPr>
            <a:picLocks noChangeAspect="1"/>
          </p:cNvPicPr>
          <p:nvPr/>
        </p:nvPicPr>
        <p:blipFill>
          <a:blip r:embed="rId3"/>
          <a:stretch>
            <a:fillRect/>
          </a:stretch>
        </p:blipFill>
        <p:spPr>
          <a:xfrm>
            <a:off x="818898" y="1325880"/>
            <a:ext cx="3725159" cy="2299716"/>
          </a:xfrm>
          <a:prstGeom prst="rect">
            <a:avLst/>
          </a:prstGeom>
        </p:spPr>
      </p:pic>
      <p:pic>
        <p:nvPicPr>
          <p:cNvPr id="32" name="Picture 31" descr="result_07.png"/>
          <p:cNvPicPr>
            <a:picLocks noChangeAspect="1"/>
          </p:cNvPicPr>
          <p:nvPr/>
        </p:nvPicPr>
        <p:blipFill>
          <a:blip r:embed="rId4"/>
          <a:stretch>
            <a:fillRect/>
          </a:stretch>
        </p:blipFill>
        <p:spPr>
          <a:xfrm>
            <a:off x="5668006" y="1325880"/>
            <a:ext cx="2229110" cy="2299716"/>
          </a:xfrm>
          <a:prstGeom prst="rect">
            <a:avLst/>
          </a:prstGeom>
        </p:spPr>
      </p:pic>
      <p:pic>
        <p:nvPicPr>
          <p:cNvPr id="33" name="Picture 32" descr="result_08.png"/>
          <p:cNvPicPr>
            <a:picLocks noChangeAspect="1"/>
          </p:cNvPicPr>
          <p:nvPr/>
        </p:nvPicPr>
        <p:blipFill>
          <a:blip r:embed="rId5"/>
          <a:stretch>
            <a:fillRect/>
          </a:stretch>
        </p:blipFill>
        <p:spPr>
          <a:xfrm>
            <a:off x="685800" y="4075121"/>
            <a:ext cx="2624327" cy="1620120"/>
          </a:xfrm>
          <a:prstGeom prst="rect">
            <a:avLst/>
          </a:prstGeom>
        </p:spPr>
      </p:pic>
      <p:pic>
        <p:nvPicPr>
          <p:cNvPr id="34" name="Picture 33" descr="result_09.png"/>
          <p:cNvPicPr>
            <a:picLocks noChangeAspect="1"/>
          </p:cNvPicPr>
          <p:nvPr/>
        </p:nvPicPr>
        <p:blipFill>
          <a:blip r:embed="rId6"/>
          <a:stretch>
            <a:fillRect/>
          </a:stretch>
        </p:blipFill>
        <p:spPr>
          <a:xfrm>
            <a:off x="3419856" y="4075121"/>
            <a:ext cx="2624327" cy="1620120"/>
          </a:xfrm>
          <a:prstGeom prst="rect">
            <a:avLst/>
          </a:prstGeom>
        </p:spPr>
      </p:pic>
      <p:pic>
        <p:nvPicPr>
          <p:cNvPr id="35" name="Picture 34" descr="result_10.png"/>
          <p:cNvPicPr>
            <a:picLocks noChangeAspect="1"/>
          </p:cNvPicPr>
          <p:nvPr/>
        </p:nvPicPr>
        <p:blipFill>
          <a:blip r:embed="rId7"/>
          <a:stretch>
            <a:fillRect/>
          </a:stretch>
        </p:blipFill>
        <p:spPr>
          <a:xfrm>
            <a:off x="6153912" y="4075121"/>
            <a:ext cx="2624327" cy="162012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u="sng" dirty="0"/>
              <a:t>RESULTS </a:t>
            </a:r>
            <a:endParaRPr lang="en-IN" u="sng"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1" name="Picture 30" descr="result_11.png"/>
          <p:cNvPicPr>
            <a:picLocks noChangeAspect="1"/>
          </p:cNvPicPr>
          <p:nvPr/>
        </p:nvPicPr>
        <p:blipFill>
          <a:blip r:embed="rId3"/>
          <a:stretch>
            <a:fillRect/>
          </a:stretch>
        </p:blipFill>
        <p:spPr>
          <a:xfrm>
            <a:off x="818898" y="1325880"/>
            <a:ext cx="3725159" cy="2299716"/>
          </a:xfrm>
          <a:prstGeom prst="rect">
            <a:avLst/>
          </a:prstGeom>
        </p:spPr>
      </p:pic>
      <p:pic>
        <p:nvPicPr>
          <p:cNvPr id="32" name="Picture 31" descr="result_12.png"/>
          <p:cNvPicPr>
            <a:picLocks noChangeAspect="1"/>
          </p:cNvPicPr>
          <p:nvPr/>
        </p:nvPicPr>
        <p:blipFill>
          <a:blip r:embed="rId4"/>
          <a:stretch>
            <a:fillRect/>
          </a:stretch>
        </p:blipFill>
        <p:spPr>
          <a:xfrm>
            <a:off x="4919982" y="1325880"/>
            <a:ext cx="3725159" cy="2299716"/>
          </a:xfrm>
          <a:prstGeom prst="rect">
            <a:avLst/>
          </a:prstGeom>
        </p:spPr>
      </p:pic>
      <p:pic>
        <p:nvPicPr>
          <p:cNvPr id="33" name="Picture 32" descr="result_13.png"/>
          <p:cNvPicPr>
            <a:picLocks noChangeAspect="1"/>
          </p:cNvPicPr>
          <p:nvPr/>
        </p:nvPicPr>
        <p:blipFill>
          <a:blip r:embed="rId5"/>
          <a:stretch>
            <a:fillRect/>
          </a:stretch>
        </p:blipFill>
        <p:spPr>
          <a:xfrm>
            <a:off x="685800" y="4075121"/>
            <a:ext cx="2624327" cy="1620120"/>
          </a:xfrm>
          <a:prstGeom prst="rect">
            <a:avLst/>
          </a:prstGeom>
        </p:spPr>
      </p:pic>
      <p:pic>
        <p:nvPicPr>
          <p:cNvPr id="34" name="Picture 33" descr="result_14.png"/>
          <p:cNvPicPr>
            <a:picLocks noChangeAspect="1"/>
          </p:cNvPicPr>
          <p:nvPr/>
        </p:nvPicPr>
        <p:blipFill>
          <a:blip r:embed="rId6"/>
          <a:stretch>
            <a:fillRect/>
          </a:stretch>
        </p:blipFill>
        <p:spPr>
          <a:xfrm>
            <a:off x="3419856" y="4075121"/>
            <a:ext cx="2624327" cy="1620120"/>
          </a:xfrm>
          <a:prstGeom prst="rect">
            <a:avLst/>
          </a:prstGeom>
        </p:spPr>
      </p:pic>
      <p:pic>
        <p:nvPicPr>
          <p:cNvPr id="35" name="Picture 34" descr="result_15.png"/>
          <p:cNvPicPr>
            <a:picLocks noChangeAspect="1"/>
          </p:cNvPicPr>
          <p:nvPr/>
        </p:nvPicPr>
        <p:blipFill>
          <a:blip r:embed="rId7"/>
          <a:stretch>
            <a:fillRect/>
          </a:stretch>
        </p:blipFill>
        <p:spPr>
          <a:xfrm>
            <a:off x="6153912" y="4075121"/>
            <a:ext cx="2624327" cy="162012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u="sng" dirty="0"/>
              <a:t>RESULTS</a:t>
            </a:r>
            <a:r>
              <a:rPr lang="en-GB" dirty="0"/>
              <a:t>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1" name="Picture 30" descr="result_16.png"/>
          <p:cNvPicPr>
            <a:picLocks noChangeAspect="1"/>
          </p:cNvPicPr>
          <p:nvPr/>
        </p:nvPicPr>
        <p:blipFill>
          <a:blip r:embed="rId3"/>
          <a:stretch>
            <a:fillRect/>
          </a:stretch>
        </p:blipFill>
        <p:spPr>
          <a:xfrm>
            <a:off x="685800" y="1383081"/>
            <a:ext cx="3991356" cy="2185312"/>
          </a:xfrm>
          <a:prstGeom prst="rect">
            <a:avLst/>
          </a:prstGeom>
        </p:spPr>
      </p:pic>
      <p:pic>
        <p:nvPicPr>
          <p:cNvPr id="32" name="Picture 31" descr="result_17.png"/>
          <p:cNvPicPr>
            <a:picLocks noChangeAspect="1"/>
          </p:cNvPicPr>
          <p:nvPr/>
        </p:nvPicPr>
        <p:blipFill>
          <a:blip r:embed="rId4"/>
          <a:stretch>
            <a:fillRect/>
          </a:stretch>
        </p:blipFill>
        <p:spPr>
          <a:xfrm>
            <a:off x="4786884" y="1491383"/>
            <a:ext cx="3991356" cy="1968709"/>
          </a:xfrm>
          <a:prstGeom prst="rect">
            <a:avLst/>
          </a:prstGeom>
        </p:spPr>
      </p:pic>
      <p:pic>
        <p:nvPicPr>
          <p:cNvPr id="33" name="Picture 32" descr="result_18.png"/>
          <p:cNvPicPr>
            <a:picLocks noChangeAspect="1"/>
          </p:cNvPicPr>
          <p:nvPr/>
        </p:nvPicPr>
        <p:blipFill>
          <a:blip r:embed="rId5"/>
          <a:stretch>
            <a:fillRect/>
          </a:stretch>
        </p:blipFill>
        <p:spPr>
          <a:xfrm>
            <a:off x="685800" y="3898878"/>
            <a:ext cx="3991356" cy="1972606"/>
          </a:xfrm>
          <a:prstGeom prst="rect">
            <a:avLst/>
          </a:prstGeom>
        </p:spPr>
      </p:pic>
      <p:pic>
        <p:nvPicPr>
          <p:cNvPr id="34" name="Picture 33" descr="result_19.png"/>
          <p:cNvPicPr>
            <a:picLocks noChangeAspect="1"/>
          </p:cNvPicPr>
          <p:nvPr/>
        </p:nvPicPr>
        <p:blipFill>
          <a:blip r:embed="rId6"/>
          <a:stretch>
            <a:fillRect/>
          </a:stretch>
        </p:blipFill>
        <p:spPr>
          <a:xfrm>
            <a:off x="5571426" y="3735324"/>
            <a:ext cx="2422271" cy="229971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u="sng" dirty="0"/>
              <a:t>RESULTS</a:t>
            </a:r>
            <a:r>
              <a:rPr lang="en-GB" dirty="0"/>
              <a:t>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endParaRPr lang="en-IN" dirty="0"/>
          </a:p>
        </p:txBody>
      </p:sp>
      <p:pic>
        <p:nvPicPr>
          <p:cNvPr id="31" name="Picture 30" descr="result_20.png"/>
          <p:cNvPicPr>
            <a:picLocks noChangeAspect="1"/>
          </p:cNvPicPr>
          <p:nvPr/>
        </p:nvPicPr>
        <p:blipFill>
          <a:blip r:embed="rId3"/>
          <a:stretch>
            <a:fillRect/>
          </a:stretch>
        </p:blipFill>
        <p:spPr>
          <a:xfrm>
            <a:off x="685800" y="1491383"/>
            <a:ext cx="3991356" cy="1968709"/>
          </a:xfrm>
          <a:prstGeom prst="rect">
            <a:avLst/>
          </a:prstGeom>
        </p:spPr>
      </p:pic>
      <p:pic>
        <p:nvPicPr>
          <p:cNvPr id="32" name="Picture 31" descr="result_21.png"/>
          <p:cNvPicPr>
            <a:picLocks noChangeAspect="1"/>
          </p:cNvPicPr>
          <p:nvPr/>
        </p:nvPicPr>
        <p:blipFill>
          <a:blip r:embed="rId4"/>
          <a:stretch>
            <a:fillRect/>
          </a:stretch>
        </p:blipFill>
        <p:spPr>
          <a:xfrm>
            <a:off x="4845130" y="1325880"/>
            <a:ext cx="3874863" cy="2299716"/>
          </a:xfrm>
          <a:prstGeom prst="rect">
            <a:avLst/>
          </a:prstGeom>
        </p:spPr>
      </p:pic>
      <p:pic>
        <p:nvPicPr>
          <p:cNvPr id="33" name="Picture 32" descr="result_22.png"/>
          <p:cNvPicPr>
            <a:picLocks noChangeAspect="1"/>
          </p:cNvPicPr>
          <p:nvPr/>
        </p:nvPicPr>
        <p:blipFill>
          <a:blip r:embed="rId5"/>
          <a:stretch>
            <a:fillRect/>
          </a:stretch>
        </p:blipFill>
        <p:spPr>
          <a:xfrm>
            <a:off x="744046" y="3735324"/>
            <a:ext cx="3874863" cy="2299716"/>
          </a:xfrm>
          <a:prstGeom prst="rect">
            <a:avLst/>
          </a:prstGeom>
        </p:spPr>
      </p:pic>
      <p:pic>
        <p:nvPicPr>
          <p:cNvPr id="34" name="Picture 33" descr="result_23.png"/>
          <p:cNvPicPr>
            <a:picLocks noChangeAspect="1"/>
          </p:cNvPicPr>
          <p:nvPr/>
        </p:nvPicPr>
        <p:blipFill>
          <a:blip r:embed="rId6"/>
          <a:stretch>
            <a:fillRect/>
          </a:stretch>
        </p:blipFill>
        <p:spPr>
          <a:xfrm>
            <a:off x="5342080" y="3735324"/>
            <a:ext cx="2880962" cy="2299716"/>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839243" y="1110452"/>
            <a:ext cx="4735798" cy="830997"/>
          </a:xfrm>
        </p:spPr>
        <p:txBody>
          <a:bodyPr>
            <a:normAutofit/>
          </a:bodyPr>
          <a:lstStyle/>
          <a:p>
            <a:r>
              <a:rPr lang="en-IN" sz="4000" u="sng"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75957" y="2087880"/>
            <a:ext cx="7589520" cy="4480560"/>
          </a:xfrm>
          <a:prstGeom prst="rect">
            <a:avLst/>
          </a:prstGeom>
          <a:noFill/>
        </p:spPr>
        <p:txBody>
          <a:bodyPr wrap="square" lIns="73152" rIns="73152">
            <a:spAutoFit/>
          </a:bodyPr>
          <a:lstStyle/>
          <a:p>
            <a:pPr algn="l"/>
            <a:r>
              <a:rPr sz="1900" b="0"/>
              <a:t>• Extend the analysis with more years and larger regional datasets.
• Add deeper crop-wise and region-wise seasonal comparisons.
• Study resource optimization for water, fertilizer and pesticide usage.
• Investigate relationships between environmental conditions, risk and profitability.
• Build interactive visual reporting in a future phase.
• Use the analytical findings as a foundation for future predictive studies.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451183" y="1240739"/>
            <a:ext cx="4735798" cy="830997"/>
          </a:xfrm>
        </p:spPr>
        <p:txBody>
          <a:bodyPr>
            <a:normAutofit/>
          </a:bodyPr>
          <a:lstStyle/>
          <a:p>
            <a:r>
              <a:rPr lang="en-IN" sz="4000" u="sng"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177281" y="2106368"/>
            <a:ext cx="6096000" cy="769441"/>
          </a:xfrm>
          <a:prstGeom prst="rect">
            <a:avLst/>
          </a:prstGeom>
          <a:noFill/>
        </p:spPr>
        <p:txBody>
          <a:bodyPr wrap="square" lIns="73152" rIns="73152">
            <a:spAutoFit/>
          </a:bodyPr>
          <a:lstStyle/>
          <a:p>
            <a:pPr algn="ctr"/>
            <a:r>
              <a:rPr lang="en-IN" sz="2200" b="1" dirty="0"/>
              <a:t>https://github.com/Fidrik-333/Seasonal-Agriculture-Performance-Analysis.git</a:t>
            </a:r>
            <a:endParaRPr sz="2200" b="1"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4" name="Picture 23" descr="cert-1.png"/>
          <p:cNvPicPr>
            <a:picLocks noChangeAspect="1"/>
          </p:cNvPicPr>
          <p:nvPr/>
        </p:nvPicPr>
        <p:blipFill>
          <a:blip r:embed="rId3"/>
          <a:stretch>
            <a:fillRect/>
          </a:stretch>
        </p:blipFill>
        <p:spPr>
          <a:xfrm>
            <a:off x="1992761" y="2106386"/>
            <a:ext cx="6454466" cy="4466644"/>
          </a:xfrm>
          <a:prstGeom prst="rect">
            <a:avLst/>
          </a:prstGeom>
        </p:spPr>
      </p:pic>
      <p:sp>
        <p:nvSpPr>
          <p:cNvPr id="10" name="TextBox 9">
            <a:extLst>
              <a:ext uri="{FF2B5EF4-FFF2-40B4-BE49-F238E27FC236}">
                <a16:creationId xmlns:a16="http://schemas.microsoft.com/office/drawing/2014/main" id="{7B55FAAA-2D3C-2B5B-AB8C-5E2499BC5A90}"/>
              </a:ext>
            </a:extLst>
          </p:cNvPr>
          <p:cNvSpPr txBox="1"/>
          <p:nvPr/>
        </p:nvSpPr>
        <p:spPr>
          <a:xfrm>
            <a:off x="946545" y="284971"/>
            <a:ext cx="9528571" cy="1323439"/>
          </a:xfrm>
          <a:prstGeom prst="rect">
            <a:avLst/>
          </a:prstGeom>
          <a:noFill/>
        </p:spPr>
        <p:txBody>
          <a:bodyPr wrap="none" rtlCol="0">
            <a:spAutoFit/>
          </a:bodyPr>
          <a:lstStyle/>
          <a:p>
            <a:r>
              <a:rPr lang="en-IN" sz="4000" b="1" dirty="0"/>
              <a:t>VOIS Course completion certificate -    </a:t>
            </a:r>
          </a:p>
          <a:p>
            <a:r>
              <a:rPr lang="en-IN" sz="4000" b="1" dirty="0"/>
              <a:t>Course name- Data Visualization</a:t>
            </a:r>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1379237"/>
            <a:ext cx="11340000" cy="700114"/>
          </a:xfrm>
          <a:prstGeom prst="rect">
            <a:avLst/>
          </a:prstGeom>
        </p:spPr>
        <p:txBody>
          <a:bodyPr anchor="ctr">
            <a:normAutofit fontScale="90000"/>
          </a:bodyPr>
          <a:lstStyle/>
          <a:p>
            <a:pPr algn="ctr"/>
            <a:r>
              <a:rPr lang="en-US" sz="4800" b="1" u="sng"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576</TotalTime>
  <Words>499</Words>
  <Application>Microsoft Office PowerPoint</Application>
  <PresentationFormat>Widescreen</PresentationFormat>
  <Paragraphs>28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vt:lpstr>
      <vt:lpstr>PROBLEM  STATEMENT</vt:lpstr>
      <vt:lpstr>The Seasonal Agriculture Performance Analysis project focuses on analyzing agricultural data collected across different seasons, crops, geographical areas, farming practices, environmental conditions, resource usage, and economic outcomes. The project uses Python, Pandas, NumPy, Matplotlib, Seaborn, and Jupyter Notebook to explore and prepare the dataset, handle missing values, identify patterns, compare seasonal performance, and visualize important relationships. The analysis investigates how agricultural performance varies across Kharif, Rabi, and Zaid seasons, with particular focus on yield, production, rainfall, temperature, soil conditions, irrigation, resource usage, revenue, cost, and profit. The objective is to transform raw agricultural data into meaningful, evidence-based insights that can help understand seasonal variations and support better agricultural planning and decision-making.  </vt:lpstr>
      <vt:lpstr>WHO ARE THE END USERS?</vt:lpstr>
      <vt:lpstr>Technology Used</vt:lpstr>
      <vt:lpstr>RESULTS </vt:lpstr>
      <vt:lpstr>RESULTS </vt:lpstr>
      <vt:lpstr>RESULTS </vt:lpstr>
      <vt:lpstr>RESULTS </vt:lpstr>
      <vt:lpstr>RESULTS </vt:lpstr>
      <vt:lpstr>Future scope</vt:lpstr>
      <vt:lpstr>GitHub Link</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SHAIK FAMEED</cp:lastModifiedBy>
  <cp:revision>99</cp:revision>
  <dcterms:created xsi:type="dcterms:W3CDTF">2021-07-11T13:13:15Z</dcterms:created>
  <dcterms:modified xsi:type="dcterms:W3CDTF">2026-09-04T06:23:04Z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